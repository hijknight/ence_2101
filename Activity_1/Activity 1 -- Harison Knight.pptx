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3" r:id="rId5"/>
    <p:sldId id="257" r:id="rId6"/>
    <p:sldId id="264" r:id="rId7"/>
    <p:sldId id="265" r:id="rId8"/>
    <p:sldId id="268" r:id="rId9"/>
    <p:sldId id="260" r:id="rId10"/>
    <p:sldId id="261" r:id="rId11"/>
    <p:sldId id="262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91"/>
    <p:restoredTop sz="94606"/>
  </p:normalViewPr>
  <p:slideViewPr>
    <p:cSldViewPr snapToGrid="0">
      <p:cViewPr varScale="1">
        <p:scale>
          <a:sx n="103" d="100"/>
          <a:sy n="103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40DD-924F-6BEE-E4AB-BE572BCA7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489F9-AC4C-CA49-7D8F-913037D13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32D78-5332-909B-B064-ADB2F132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87973-FEEE-F44D-17BB-27BF9A73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46F8-7048-1670-6989-092DDDD8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6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B518-E6A2-5909-CF4B-6C2E57DD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EA573-20B2-CC66-C1D7-32121C12A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3D380-1C81-F367-7613-2D0F74D8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AD315-6A24-9CEB-7CBE-BC84656B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B3969-16BA-452C-E5B8-06F2DD80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0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8142-03AD-D349-683A-F853FC46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CBC45-32DF-08A2-1759-C6525EDAA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93165-8CA2-4B02-D77B-9F8140BA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BFF6A-B9E0-CE59-10D7-1D101EE2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8E9D3-2C9B-9188-87B4-EBC6C7A4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9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2A11-B545-FED4-38CE-F48B8D7F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FCA6-0A37-F5B4-35B1-DCA6CE8C2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5C5B-3C94-310D-D0E7-A8DA3C037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91CAE-2AC0-CFE2-1EA7-D7DE2E25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A2840-DD40-4766-E1B5-6C197A03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1B617-1072-92C1-84D5-712DE35A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918B-2931-A828-251F-C2D3A814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73E7A-4671-CA5D-D861-9FEF2868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6087A-D631-67AA-4349-D6486DF0E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8E306-8FCB-8F4F-332C-649D8A887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2FE55-CD6A-B475-BDDC-D999FF18E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CA4BB-75B5-8BBF-2627-17F95DD5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68D17-2EFE-97D7-B04B-642D006D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46CDDB-5B18-FC19-F9AA-FD8234A5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8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DB40-C8FE-7BDF-D4AE-5092CECF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6CBC8-4966-E68B-496F-059CFC80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1D407-F4C6-6F09-2BAE-CBA0FB4F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37109-3161-9726-7805-1BE3FEF0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7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ACF66-227C-8543-10C2-C905FAA9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DD167-1AF6-49B2-44B7-B8086AF3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616EE-F8F6-A9F5-BFDF-6E6BFB79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6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E7E0-2AF5-49E3-4822-9A0B89D2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4C2F-BF49-6173-E32F-21FDA7185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5605C-9114-08FA-C4F3-2606E6EC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14745-10C1-2D60-55B8-66F8F910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F98F-6429-A1EA-E182-971102C9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D773A-ECB1-41C4-B312-969089E8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D5D3-886F-F4AD-CE98-C7376654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EEB45-8D53-2809-8180-4BC9785A9EB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1C79C-968E-59C2-1CBE-368CF8ABC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8F983-1B80-135C-8B78-435CAE3E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63FB1-EFB3-FB8D-6D15-F164A010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C3EF3-3207-D5C1-88EF-EA6B520D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4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0839-F56C-DD14-167F-670D6387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062BB-A330-5268-4617-4F45A0011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9A1C-E3B6-566D-69B2-8128F0A5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21765-E34B-EFA2-E2B7-586BD58E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8D7C-FBBB-67AB-32E4-4600A4B9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8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F98D3-8980-298D-B01D-C876F06DB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219E2-3B7C-9C62-CB1E-B2691980F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74FCE-EEDC-C8D3-83C0-B47D0B5D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0327-E8AD-4AF6-7BB6-32381580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27FE-E8F0-7750-15FC-BFC3B619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C54DF-FE56-708F-86BB-CD1A8D15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127B5-688A-DE44-4954-EA9DA22B2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56FA-6347-476D-D42D-B9B4DB69C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11AE5-655D-B34B-B08A-0CC4E43184D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D0875-3F17-068A-CE92-EAEA16AD2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77A1C-5379-E247-3F1D-AD83596A5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EE7FD-DA41-EC42-8090-612B9F32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2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35C2-810C-4FC4-FCCB-CFAC4185F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2FCA4-B691-ABE7-5471-23C416993B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Harrison Knight</a:t>
            </a:r>
          </a:p>
        </p:txBody>
      </p:sp>
    </p:spTree>
    <p:extLst>
      <p:ext uri="{BB962C8B-B14F-4D97-AF65-F5344CB8AC3E}">
        <p14:creationId xmlns:p14="http://schemas.microsoft.com/office/powerpoint/2010/main" val="316453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8878-6ABB-0DED-B77F-B6E0E8A2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Flame Sensor Circuit Ground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60624-5486-33F8-B1B5-3A8D980C6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each sensor, a 1 will correspond to a detected flame and a 0 will correspond to no detected flame, or a sensor failure. In order for the circuit to push the waste inlet to a 1 (waste entering exhaust), at least 2 of 3 sensors must be a 1. </a:t>
            </a:r>
          </a:p>
        </p:txBody>
      </p:sp>
    </p:spTree>
    <p:extLst>
      <p:ext uri="{BB962C8B-B14F-4D97-AF65-F5344CB8AC3E}">
        <p14:creationId xmlns:p14="http://schemas.microsoft.com/office/powerpoint/2010/main" val="306096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455A-8258-CBC7-0E36-F3043D46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DB9426-6F97-BD29-0A50-03B659CF5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335316"/>
              </p:ext>
            </p:extLst>
          </p:nvPr>
        </p:nvGraphicFramePr>
        <p:xfrm>
          <a:off x="3473824" y="1453782"/>
          <a:ext cx="5041739" cy="4467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240">
                  <a:extLst>
                    <a:ext uri="{9D8B030D-6E8A-4147-A177-3AD203B41FA5}">
                      <a16:colId xmlns:a16="http://schemas.microsoft.com/office/drawing/2014/main" val="3274313420"/>
                    </a:ext>
                  </a:extLst>
                </a:gridCol>
                <a:gridCol w="282327">
                  <a:extLst>
                    <a:ext uri="{9D8B030D-6E8A-4147-A177-3AD203B41FA5}">
                      <a16:colId xmlns:a16="http://schemas.microsoft.com/office/drawing/2014/main" val="4036193561"/>
                    </a:ext>
                  </a:extLst>
                </a:gridCol>
                <a:gridCol w="284833">
                  <a:extLst>
                    <a:ext uri="{9D8B030D-6E8A-4147-A177-3AD203B41FA5}">
                      <a16:colId xmlns:a16="http://schemas.microsoft.com/office/drawing/2014/main" val="3971658023"/>
                    </a:ext>
                  </a:extLst>
                </a:gridCol>
                <a:gridCol w="1696656">
                  <a:extLst>
                    <a:ext uri="{9D8B030D-6E8A-4147-A177-3AD203B41FA5}">
                      <a16:colId xmlns:a16="http://schemas.microsoft.com/office/drawing/2014/main" val="3253725624"/>
                    </a:ext>
                  </a:extLst>
                </a:gridCol>
                <a:gridCol w="844952">
                  <a:extLst>
                    <a:ext uri="{9D8B030D-6E8A-4147-A177-3AD203B41FA5}">
                      <a16:colId xmlns:a16="http://schemas.microsoft.com/office/drawing/2014/main" val="3744166063"/>
                    </a:ext>
                  </a:extLst>
                </a:gridCol>
                <a:gridCol w="1585731">
                  <a:extLst>
                    <a:ext uri="{9D8B030D-6E8A-4147-A177-3AD203B41FA5}">
                      <a16:colId xmlns:a16="http://schemas.microsoft.com/office/drawing/2014/main" val="2050029673"/>
                    </a:ext>
                  </a:extLst>
                </a:gridCol>
              </a:tblGrid>
              <a:tr h="5151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 for detected, 0 for not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Waste Valve (F)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 for open, 0 for closed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3825267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4960564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7174355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395132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2 of 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4041069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0112045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2 of 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8475429"/>
                  </a:ext>
                </a:extLst>
              </a:tr>
              <a:tr h="4848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 of 3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6568923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3 of 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6954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10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AE6C-6C94-7D57-4585-965CD1E4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Map for SOP and POS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0A174-B484-D951-8BC3-29365B6BC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0" y="1690688"/>
            <a:ext cx="10912240" cy="397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5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974A-1CD7-1E22-BE17-502BA3A4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 for SOP and POS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D7D59-FBEB-6BEA-0ED3-A5148D61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232" y="1593551"/>
            <a:ext cx="9629708" cy="489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9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B459C-8F77-C2CF-F694-69128AF2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46200"/>
            <a:ext cx="11741308" cy="41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9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647B6B-3275-F8E8-11DA-B4A4B062D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998" y="1454728"/>
            <a:ext cx="11458004" cy="427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14B4-2585-9ED9-69B9-17C0DB48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for part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37E0-AFDE-5711-7C73-CE2968DDE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part A we have the option to use the SOP or POS with all NAND or all NOR. I choose all NAND because I like it more</a:t>
            </a:r>
          </a:p>
        </p:txBody>
      </p:sp>
    </p:spTree>
    <p:extLst>
      <p:ext uri="{BB962C8B-B14F-4D97-AF65-F5344CB8AC3E}">
        <p14:creationId xmlns:p14="http://schemas.microsoft.com/office/powerpoint/2010/main" val="259395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7917-E3EA-0461-D563-97BC807B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Disagreement Circuit Ground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9DCA3-1569-9EE4-FC82-C95EB1CC1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any of the “disagreement” cases (010, 100, 101, etc.), a 1 will be triggered in the output, which can be used to trigger an alarm system. </a:t>
            </a:r>
          </a:p>
        </p:txBody>
      </p:sp>
    </p:spTree>
    <p:extLst>
      <p:ext uri="{BB962C8B-B14F-4D97-AF65-F5344CB8AC3E}">
        <p14:creationId xmlns:p14="http://schemas.microsoft.com/office/powerpoint/2010/main" val="3643911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A045-72A5-BFB4-B463-D91A5145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Disagreement Truth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95985A-C995-47B1-3D26-408124B14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012926"/>
              </p:ext>
            </p:extLst>
          </p:nvPr>
        </p:nvGraphicFramePr>
        <p:xfrm>
          <a:off x="1041722" y="2083444"/>
          <a:ext cx="8357773" cy="4115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7815">
                  <a:extLst>
                    <a:ext uri="{9D8B030D-6E8A-4147-A177-3AD203B41FA5}">
                      <a16:colId xmlns:a16="http://schemas.microsoft.com/office/drawing/2014/main" val="2414494057"/>
                    </a:ext>
                  </a:extLst>
                </a:gridCol>
                <a:gridCol w="1777815">
                  <a:extLst>
                    <a:ext uri="{9D8B030D-6E8A-4147-A177-3AD203B41FA5}">
                      <a16:colId xmlns:a16="http://schemas.microsoft.com/office/drawing/2014/main" val="3090986938"/>
                    </a:ext>
                  </a:extLst>
                </a:gridCol>
                <a:gridCol w="1777815">
                  <a:extLst>
                    <a:ext uri="{9D8B030D-6E8A-4147-A177-3AD203B41FA5}">
                      <a16:colId xmlns:a16="http://schemas.microsoft.com/office/drawing/2014/main" val="3338957157"/>
                    </a:ext>
                  </a:extLst>
                </a:gridCol>
                <a:gridCol w="3024328">
                  <a:extLst>
                    <a:ext uri="{9D8B030D-6E8A-4147-A177-3AD203B41FA5}">
                      <a16:colId xmlns:a16="http://schemas.microsoft.com/office/drawing/2014/main" val="3016977687"/>
                    </a:ext>
                  </a:extLst>
                </a:gridCol>
              </a:tblGrid>
              <a:tr h="7670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B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Sensor Disagreement (1 = Alarm) (G)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2621962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4721521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7230833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1985122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3049127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622629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1068720"/>
                  </a:ext>
                </a:extLst>
              </a:tr>
              <a:tr h="41532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8918044"/>
                  </a:ext>
                </a:extLst>
              </a:tr>
              <a:tr h="44128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80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25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EE98-86FE-8DC1-B254-A45BDFAC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Karnaugh Maps for Sensor Disagreement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B7133-4FDF-5F25-A45B-7FBB0D2E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1690688"/>
            <a:ext cx="10196946" cy="469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79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1293-6226-12D3-53C1-1F0213B3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 – We don’t have Inverters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E7AB2-070A-A7F9-44C9-B72DB171D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1579487"/>
            <a:ext cx="11254312" cy="415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3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3BBD17-3A13-D4FF-B9BD-B4DB72692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663" y="1825625"/>
            <a:ext cx="10278673" cy="43513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3D4D8F-6997-052E-FEDA-7DF9F0A0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 – We don’t have Inverters</a:t>
            </a:r>
          </a:p>
        </p:txBody>
      </p:sp>
    </p:spTree>
    <p:extLst>
      <p:ext uri="{BB962C8B-B14F-4D97-AF65-F5344CB8AC3E}">
        <p14:creationId xmlns:p14="http://schemas.microsoft.com/office/powerpoint/2010/main" val="122971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CB33-F4AA-9BF8-3537-60D4FF3D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for part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29D4-8448-DC3A-12DB-C49D7E788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Again, we have the option between all NAND and all NOR because they both use the same number of ICs. I choose all NAND.</a:t>
            </a:r>
          </a:p>
        </p:txBody>
      </p:sp>
    </p:spTree>
    <p:extLst>
      <p:ext uri="{BB962C8B-B14F-4D97-AF65-F5344CB8AC3E}">
        <p14:creationId xmlns:p14="http://schemas.microsoft.com/office/powerpoint/2010/main" val="252805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333</Words>
  <Application>Microsoft Macintosh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Activity 1</vt:lpstr>
      <vt:lpstr>Flame Sensor Circuit Ground Rules</vt:lpstr>
      <vt:lpstr>Truth Table</vt:lpstr>
      <vt:lpstr>K Map for SOP and POS </vt:lpstr>
      <vt:lpstr>Digital Circuits for SOP and POS</vt:lpstr>
      <vt:lpstr>PowerPoint Presentation</vt:lpstr>
      <vt:lpstr>PowerPoint Presentation</vt:lpstr>
      <vt:lpstr>Conclusion for part a</vt:lpstr>
      <vt:lpstr>Sensor Disagreement Circuit Ground Rules</vt:lpstr>
      <vt:lpstr>Sensor Disagreement Truth Table</vt:lpstr>
      <vt:lpstr>Karnaugh Maps for Sensor Disagreement</vt:lpstr>
      <vt:lpstr>Digital Circuits – We don’t have Inverters</vt:lpstr>
      <vt:lpstr>Digital Circuits – We don’t have Inverters</vt:lpstr>
      <vt:lpstr>Conclusion for part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2</cp:revision>
  <dcterms:created xsi:type="dcterms:W3CDTF">2026-09-30T15:02:46Z</dcterms:created>
  <dcterms:modified xsi:type="dcterms:W3CDTF">2026-10-01T18:28:59Z</dcterms:modified>
</cp:coreProperties>
</file>